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8" r:id="rId1"/>
  </p:sldMasterIdLst>
  <p:sldIdLst>
    <p:sldId id="257" r:id="rId2"/>
    <p:sldId id="258" r:id="rId3"/>
    <p:sldId id="259" r:id="rId4"/>
    <p:sldId id="260" r:id="rId5"/>
    <p:sldId id="261" r:id="rId6"/>
    <p:sldId id="265" r:id="rId7"/>
    <p:sldId id="263" r:id="rId8"/>
    <p:sldId id="270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E1CA-8D0A-4434-A7A1-8D3B71EE57B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3392-F0C5-4EEC-B3FA-15C909380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26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E1CA-8D0A-4434-A7A1-8D3B71EE57B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3392-F0C5-4EEC-B3FA-15C909380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31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E1CA-8D0A-4434-A7A1-8D3B71EE57B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3392-F0C5-4EEC-B3FA-15C909380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783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E1CA-8D0A-4434-A7A1-8D3B71EE57B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3392-F0C5-4EEC-B3FA-15C909380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2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E1CA-8D0A-4434-A7A1-8D3B71EE57B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3392-F0C5-4EEC-B3FA-15C909380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373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E1CA-8D0A-4434-A7A1-8D3B71EE57B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3392-F0C5-4EEC-B3FA-15C909380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635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E1CA-8D0A-4434-A7A1-8D3B71EE57B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3392-F0C5-4EEC-B3FA-15C909380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10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E1CA-8D0A-4434-A7A1-8D3B71EE57B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3392-F0C5-4EEC-B3FA-15C909380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827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E1CA-8D0A-4434-A7A1-8D3B71EE57B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3392-F0C5-4EEC-B3FA-15C909380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605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E1CA-8D0A-4434-A7A1-8D3B71EE57B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3392-F0C5-4EEC-B3FA-15C909380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898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E1CA-8D0A-4434-A7A1-8D3B71EE57B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3392-F0C5-4EEC-B3FA-15C909380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444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E1CA-8D0A-4434-A7A1-8D3B71EE57B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3392-F0C5-4EEC-B3FA-15C9093803EF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3195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E1CA-8D0A-4434-A7A1-8D3B71EE57B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3392-F0C5-4EEC-B3FA-15C909380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161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E1CA-8D0A-4434-A7A1-8D3B71EE57B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3392-F0C5-4EEC-B3FA-15C909380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2509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E1CA-8D0A-4434-A7A1-8D3B71EE57B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3392-F0C5-4EEC-B3FA-15C909380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1934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E1CA-8D0A-4434-A7A1-8D3B71EE57B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3392-F0C5-4EEC-B3FA-15C909380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004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E1CA-8D0A-4434-A7A1-8D3B71EE57B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3392-F0C5-4EEC-B3FA-15C909380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849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ED9E1CA-8D0A-4434-A7A1-8D3B71EE57B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A3F3392-F0C5-4EEC-B3FA-15C909380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7337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  <p:sldLayoutId id="2147484020" r:id="rId12"/>
    <p:sldLayoutId id="2147484021" r:id="rId13"/>
    <p:sldLayoutId id="2147484022" r:id="rId14"/>
    <p:sldLayoutId id="2147484023" r:id="rId15"/>
    <p:sldLayoutId id="2147484024" r:id="rId16"/>
    <p:sldLayoutId id="21474840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8F70EB-4275-86D2-6C21-A347E3875CA5}"/>
              </a:ext>
            </a:extLst>
          </p:cNvPr>
          <p:cNvSpPr txBox="1"/>
          <p:nvPr/>
        </p:nvSpPr>
        <p:spPr>
          <a:xfrm>
            <a:off x="1922208" y="2110819"/>
            <a:ext cx="8013290" cy="131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/>
              <a:t>Global Economic and </a:t>
            </a:r>
          </a:p>
          <a:p>
            <a:pPr algn="ctr">
              <a:lnSpc>
                <a:spcPct val="150000"/>
              </a:lnSpc>
            </a:pPr>
            <a:r>
              <a:rPr lang="en-US" sz="2800" b="1" dirty="0"/>
              <a:t>Demographic Trends Analysis</a:t>
            </a:r>
            <a:endParaRPr lang="en-IN" sz="2800" b="1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0C84C-E5AE-B2B5-247F-DFBB420487BB}"/>
              </a:ext>
            </a:extLst>
          </p:cNvPr>
          <p:cNvSpPr txBox="1"/>
          <p:nvPr/>
        </p:nvSpPr>
        <p:spPr>
          <a:xfrm>
            <a:off x="9342143" y="5519822"/>
            <a:ext cx="5161935" cy="10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I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ridhya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 Haridas</a:t>
            </a:r>
          </a:p>
          <a:p>
            <a:pPr algn="just">
              <a:lnSpc>
                <a:spcPct val="20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DA&amp;DS Batch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C899FA-14AC-4BAC-298C-FC2AE3BCF7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525277" y="6988612"/>
            <a:ext cx="6799755" cy="3345480"/>
          </a:xfrm>
          <a:prstGeom prst="rect">
            <a:avLst/>
          </a:prstGeom>
        </p:spPr>
      </p:pic>
      <p:pic>
        <p:nvPicPr>
          <p:cNvPr id="6" name="Picture 5" descr="Road with skyscraper background">
            <a:extLst>
              <a:ext uri="{FF2B5EF4-FFF2-40B4-BE49-F238E27FC236}">
                <a16:creationId xmlns:a16="http://schemas.microsoft.com/office/drawing/2014/main" id="{FA1A37F4-FC15-3AF1-2CA7-18097EE745F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936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360E1E-3539-5D8F-1BC7-2A09437B5C39}"/>
              </a:ext>
            </a:extLst>
          </p:cNvPr>
          <p:cNvSpPr txBox="1"/>
          <p:nvPr/>
        </p:nvSpPr>
        <p:spPr>
          <a:xfrm>
            <a:off x="1391266" y="1466581"/>
            <a:ext cx="392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Project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ECDD3-0076-42BA-F933-674376EE7E4E}"/>
              </a:ext>
            </a:extLst>
          </p:cNvPr>
          <p:cNvSpPr txBox="1"/>
          <p:nvPr/>
        </p:nvSpPr>
        <p:spPr>
          <a:xfrm>
            <a:off x="2035275" y="2261420"/>
            <a:ext cx="8554065" cy="2476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This project analyzes global economic and demographic indicators such as GDP, population, and migration. 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It uncovers patterns and relationships across income groups, population and countries to support data-driven decision.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Tools : MYSQL &amp; POWER BI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982716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96045D-AF35-BEF6-9A2C-EB734ABD2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97" y="1195887"/>
            <a:ext cx="5427406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Countries</a:t>
            </a:r>
            <a:r>
              <a:rPr lang="en-US" altLang="en-US" sz="1400" b="1" dirty="0"/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World (SQL Database)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Source: Provided SQL file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Includes country-level data like: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Population, Area, Population Density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Net Migration, Infant Mortality Rate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GDP per Capita, Literacy Rate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Phones per 1000 people, Climate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Coastline Ratio, Arable/Other Land %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Birthrate, Deathrate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Sector-wise GDP: Agriculture, Industry,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E15AE4-4789-2ECC-D7B5-A913A13FD5D8}"/>
              </a:ext>
            </a:extLst>
          </p:cNvPr>
          <p:cNvSpPr txBox="1"/>
          <p:nvPr/>
        </p:nvSpPr>
        <p:spPr>
          <a:xfrm>
            <a:off x="6371301" y="1112963"/>
            <a:ext cx="576170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Population Per</a:t>
            </a:r>
            <a:r>
              <a:rPr lang="en-US" altLang="en-US" sz="1400" b="1" dirty="0"/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Country (Excel)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Population data from 1960 to 2017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Contains Country Name, Code, and various population indicators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Meta Data (CSV File)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Country details like: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Region, Income Group, and Special Notes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GDP by Country 1960–2016 (CSV File)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GDP data across years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Includes Country Name, Code, and GDP indicators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507BE0-B315-2159-9B19-47AC8C1078B6}"/>
              </a:ext>
            </a:extLst>
          </p:cNvPr>
          <p:cNvSpPr txBox="1"/>
          <p:nvPr/>
        </p:nvSpPr>
        <p:spPr>
          <a:xfrm>
            <a:off x="550606" y="513223"/>
            <a:ext cx="392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Dataset Description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967440-9FD1-EDE3-B8FE-BC86099EDDB6}"/>
              </a:ext>
            </a:extLst>
          </p:cNvPr>
          <p:cNvSpPr txBox="1"/>
          <p:nvPr/>
        </p:nvSpPr>
        <p:spPr>
          <a:xfrm>
            <a:off x="5407741" y="4657949"/>
            <a:ext cx="392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 Cleaning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09BAE1-0B54-34C2-63B2-E85FB0AE1FDD}"/>
              </a:ext>
            </a:extLst>
          </p:cNvPr>
          <p:cNvSpPr txBox="1"/>
          <p:nvPr/>
        </p:nvSpPr>
        <p:spPr>
          <a:xfrm>
            <a:off x="4699819" y="5110205"/>
            <a:ext cx="5761703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Handled Missing Values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Removed Inconsistencies in Population and GDP data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88783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6068DD-71A6-658C-D5B6-72756A8380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87" y="789732"/>
            <a:ext cx="10459055" cy="58863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1E09E3-1C47-26FA-7A9B-45FB78AB3D55}"/>
              </a:ext>
            </a:extLst>
          </p:cNvPr>
          <p:cNvSpPr txBox="1"/>
          <p:nvPr/>
        </p:nvSpPr>
        <p:spPr>
          <a:xfrm>
            <a:off x="668594" y="260253"/>
            <a:ext cx="3864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Dashboard Overview</a:t>
            </a:r>
          </a:p>
        </p:txBody>
      </p:sp>
    </p:spTree>
    <p:extLst>
      <p:ext uri="{BB962C8B-B14F-4D97-AF65-F5344CB8AC3E}">
        <p14:creationId xmlns:p14="http://schemas.microsoft.com/office/powerpoint/2010/main" val="1660500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87CF42-5067-B9D6-29BF-ED5AE69C6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76" y="275785"/>
            <a:ext cx="10726647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239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232D3C-2925-4EF0-CF9C-696690782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50" y="353961"/>
            <a:ext cx="10745700" cy="614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590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CA36F-0098-F9B0-0851-410128FCA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530136-3076-CDF5-CBC7-7DE6E9E8B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99" y="423545"/>
            <a:ext cx="10908417" cy="616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05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6F20227-16AD-FE89-A30E-D519FE2B8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749" y="363743"/>
            <a:ext cx="10908956" cy="613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194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2C44F5F-491D-260D-6D81-927CCAD63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748" y="1388758"/>
            <a:ext cx="9876504" cy="390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Countries with higher GDP per capita tend to have higher literacy rates and attract more migrants.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High-income nations dominate in literacy and net migration, showing strong education and economic opportunities.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400" dirty="0"/>
              <a:t>Low income regions face emigration due to limited opportunities.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service sector is the main economic contributor globally, while agriculture still plays a key role in developing regions.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Birth and death rates are higher in some countries like Hong Kong, indicating demographic pressure.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Income and region heavily influence a country’s performance in education, economy, migration, and agriculture.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648529-A44B-8A16-35FC-4486C23E7852}"/>
              </a:ext>
            </a:extLst>
          </p:cNvPr>
          <p:cNvSpPr txBox="1"/>
          <p:nvPr/>
        </p:nvSpPr>
        <p:spPr>
          <a:xfrm>
            <a:off x="658762" y="751269"/>
            <a:ext cx="3864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Insights</a:t>
            </a:r>
          </a:p>
        </p:txBody>
      </p:sp>
    </p:spTree>
    <p:extLst>
      <p:ext uri="{BB962C8B-B14F-4D97-AF65-F5344CB8AC3E}">
        <p14:creationId xmlns:p14="http://schemas.microsoft.com/office/powerpoint/2010/main" val="1301788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24B7D-2773-A446-545E-9728F8F95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984479-048A-AEDD-D7F4-68A9A25F895F}"/>
              </a:ext>
            </a:extLst>
          </p:cNvPr>
          <p:cNvSpPr txBox="1"/>
          <p:nvPr/>
        </p:nvSpPr>
        <p:spPr>
          <a:xfrm>
            <a:off x="747252" y="478139"/>
            <a:ext cx="3864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383CF9-CCD4-3403-2667-49625932A8B5}"/>
              </a:ext>
            </a:extLst>
          </p:cNvPr>
          <p:cNvSpPr txBox="1"/>
          <p:nvPr/>
        </p:nvSpPr>
        <p:spPr>
          <a:xfrm>
            <a:off x="747252" y="4618615"/>
            <a:ext cx="3864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Future Recommendation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E65795-B2B1-4096-A5F0-8B10B5C8BC24}"/>
              </a:ext>
            </a:extLst>
          </p:cNvPr>
          <p:cNvSpPr txBox="1"/>
          <p:nvPr/>
        </p:nvSpPr>
        <p:spPr>
          <a:xfrm>
            <a:off x="1345741" y="5116958"/>
            <a:ext cx="5004620" cy="1317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400" dirty="0"/>
              <a:t>Invest in Education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400" dirty="0"/>
              <a:t>Support Sustainable Agriculture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400" dirty="0"/>
              <a:t>Develop Smart Migration Policies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03215E0-F0A1-384F-F5E7-D39F72E6F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741" y="900866"/>
            <a:ext cx="9056788" cy="390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Countries with stronger economies usually have better education and attract more migrants.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Many low-income countries still face challenges like low literacy and </a:t>
            </a:r>
            <a:r>
              <a:rPr lang="en-US" altLang="en-US" sz="1400" dirty="0"/>
              <a:t>lower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economic growth.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service sector is the main part of the economy in most countries, but agriculture is still important in developing regions.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Population changes and climate differences affect how countries grow and what they need to focus 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country’s income and location play a big role in its progress and development.</a:t>
            </a:r>
          </a:p>
          <a:p>
            <a:pPr marL="285750" indent="-28575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/>
              <a:t>Income levels also influence population movement and sectoral development.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17707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24CC56-B1FD-64ED-6D89-149C79951C90}"/>
              </a:ext>
            </a:extLst>
          </p:cNvPr>
          <p:cNvSpPr txBox="1"/>
          <p:nvPr/>
        </p:nvSpPr>
        <p:spPr>
          <a:xfrm>
            <a:off x="3687096" y="1946334"/>
            <a:ext cx="42082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338060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297</TotalTime>
  <Words>399</Words>
  <Application>Microsoft Office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Calisto MT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Yahavarshini E</dc:creator>
  <cp:lastModifiedBy>Hridhya Haridas</cp:lastModifiedBy>
  <cp:revision>9</cp:revision>
  <dcterms:created xsi:type="dcterms:W3CDTF">2025-04-21T13:28:17Z</dcterms:created>
  <dcterms:modified xsi:type="dcterms:W3CDTF">2025-11-28T06:47:38Z</dcterms:modified>
</cp:coreProperties>
</file>